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PRE-SEED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0" b="1">
                <a:solidFill>
                  <a:srgbClr val="F5F5F5"/>
                </a:solidFill>
                <a:latin typeface="Consolas"/>
              </a:defRPr>
            </a:pPr>
            <a:r>
              <a:t>PROTO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888888"/>
                </a:solidFill>
                <a:latin typeface="Consolas"/>
              </a:defRPr>
            </a:pPr>
            <a:r>
              <a:t>THE AUTONOMOUS COMPANY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Consolas"/>
              </a:defRPr>
            </a:pPr>
            <a:r>
              <a:t>Nir Feinstein /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Software is eating labor.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5F5F5"/>
                </a:solidFill>
                <a:latin typeface="Consolas"/>
              </a:defRPr>
            </a:pPr>
            <a:r>
              <a:t>$600B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888888"/>
                </a:solidFill>
                <a:latin typeface="Arial"/>
              </a:defRPr>
            </a:pPr>
            <a:r>
              <a:t>Software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44444"/>
                </a:solidFill>
                <a:latin typeface="Consolas"/>
              </a:defRPr>
            </a:pPr>
            <a: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4A9EFF"/>
                </a:solidFill>
                <a:latin typeface="Consolas"/>
              </a:defRPr>
            </a:pPr>
            <a:r>
              <a:t>$90T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888888"/>
                </a:solidFill>
                <a:latin typeface="Arial"/>
              </a:defRPr>
            </a:pPr>
            <a:r>
              <a:t>Labor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solidFill>
            <a:srgbClr val="0D1F15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5F5F5"/>
                </a:solidFill>
                <a:latin typeface="Arial"/>
              </a:defRPr>
            </a:pPr>
            <a:r>
              <a:t>We're not competing with software. We're replacing labor.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THE PRIZE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The compounding machine.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828800" cy="73152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1828800" cy="73152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743200"/>
            <a:ext cx="1828800" cy="73152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743200"/>
            <a:ext cx="1828800" cy="73152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onsolas"/>
              </a:defRPr>
            </a:pPr>
            <a:r>
              <a:t>Better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333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743200"/>
            <a:ext cx="1828800" cy="73152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9EFF"/>
                </a:solidFill>
                <a:latin typeface="Consolas"/>
              </a:defRPr>
            </a:pPr>
            <a:r>
              <a:t>More Businesses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5F5F5"/>
                </a:solidFill>
                <a:latin typeface="Arial"/>
              </a:defRPr>
            </a:pPr>
            <a:r>
              <a:t>Run one business autonomously → run hundreds.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What Proto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9EFF"/>
                </a:solidFill>
                <a:latin typeface="Consolas"/>
              </a:defRPr>
            </a:pPr>
            <a:r>
              <a:t>BUILT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9E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8888"/>
                </a:solidFill>
                <a:latin typeface="Arial"/>
              </a:defRPr>
            </a:pPr>
            <a:r>
              <a:t>159 specialist agents organized like a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9E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8888"/>
                </a:solidFill>
                <a:latin typeface="Arial"/>
              </a:defRPr>
            </a:pPr>
            <a:r>
              <a:t>Project planning system for complex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9E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8888"/>
                </a:solidFill>
                <a:latin typeface="Arial"/>
              </a:defRPr>
            </a:pPr>
            <a:r>
              <a:t>Cross-platform Mac + cloud Linux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9E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8888"/>
                </a:solidFill>
                <a:latin typeface="Arial"/>
              </a:defRPr>
            </a:pPr>
            <a:r>
              <a:t>Real computer use: files, terminal, GUI,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5A635"/>
                </a:solidFill>
                <a:latin typeface="Consolas"/>
              </a:defRPr>
            </a:pPr>
            <a:r>
              <a:t>ON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5A635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8888"/>
                </a:solidFill>
                <a:latin typeface="Arial"/>
              </a:defRPr>
            </a:pPr>
            <a:r>
              <a:t>Multi-computer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5A635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918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8888"/>
                </a:solidFill>
                <a:latin typeface="Arial"/>
              </a:defRPr>
            </a:pPr>
            <a:r>
              <a:t>Self-improvement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5A635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31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8888"/>
                </a:solidFill>
                <a:latin typeface="Arial"/>
              </a:defRPr>
            </a:pPr>
            <a:r>
              <a:t>Hybrid human delegation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F5F5"/>
                </a:solidFill>
                <a:latin typeface="Arial"/>
              </a:defRPr>
            </a:pPr>
            <a:r>
              <a:t>This isn't a concept. It's built.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System overview.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103120"/>
            <a:ext cx="3657600" cy="64008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9EFF"/>
                </a:solidFill>
                <a:latin typeface="Consolas"/>
              </a:defRPr>
            </a:pPr>
            <a:r>
              <a:t>GLOBAL CEO (Opus 4.5)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3474720" cy="54864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Computer 1 / Product 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017520"/>
            <a:ext cx="3474720" cy="54864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Computer 2 / Product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017520"/>
            <a:ext cx="3474720" cy="54864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Computer N / Shared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097280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44444"/>
                </a:solidFill>
                <a:latin typeface="Consolas"/>
              </a:defRPr>
            </a:pPr>
            <a:r>
              <a:t>159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97680"/>
            <a:ext cx="20116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9EFF"/>
                </a:solidFill>
                <a:latin typeface="Consolas"/>
              </a:defRPr>
            </a:pPr>
            <a:r>
              <a:t>C-SUITE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297680"/>
            <a:ext cx="20116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6C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B6FF"/>
                </a:solidFill>
                <a:latin typeface="Consolas"/>
              </a:defRPr>
            </a:pPr>
            <a:r>
              <a:t>DIRECTORS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297680"/>
            <a:ext cx="20116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SPECIALISTS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onsolas"/>
              </a:defRPr>
            </a:pPr>
            <a:r>
              <a:t>PEER-TO-PEER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12080"/>
            <a:ext cx="3474720" cy="548640"/>
          </a:xfrm>
          <a:prstGeom prst="rect">
            <a:avLst/>
          </a:prstGeom>
          <a:solidFill>
            <a:srgbClr val="161616"/>
          </a:solidFill>
          <a:ln w="12700">
            <a:solidFill>
              <a:srgbClr val="E5A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5A635"/>
                </a:solidFill>
                <a:latin typeface="Consolas"/>
              </a:defRPr>
            </a:pPr>
            <a:r>
              <a:t>MESSAGE BUS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5212080"/>
            <a:ext cx="3474720" cy="548640"/>
          </a:xfrm>
          <a:prstGeom prst="rect">
            <a:avLst/>
          </a:prstGeom>
          <a:solidFill>
            <a:srgbClr val="161616"/>
          </a:solidFill>
          <a:ln w="12700">
            <a:solidFill>
              <a:srgbClr val="6C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5303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B6FF"/>
                </a:solidFill>
                <a:latin typeface="Consolas"/>
              </a:defRPr>
            </a:pPr>
            <a:r>
              <a:t>KNOWLEDGE 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212080"/>
            <a:ext cx="3474720" cy="54864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5303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9EFF"/>
                </a:solidFill>
                <a:latin typeface="Consolas"/>
              </a:defRPr>
            </a:pPr>
            <a:r>
              <a:t>REVENUE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See it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Consolas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F5F5"/>
                </a:solidFill>
                <a:latin typeface="Arial"/>
              </a:defRPr>
            </a:pPr>
            <a:r>
              <a:t>Complex task → Multi-agent coordination →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Arial"/>
              </a:defRPr>
            </a:pPr>
            <a:r>
              <a:t>90-second demonstration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  <a:latin typeface="Consolas"/>
              </a:defRPr>
            </a:pPr>
            <a:r>
              <a:t>proto "Build authentication system with tests"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212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  <a:latin typeface="Consolas"/>
              </a:defRPr>
            </a:pPr>
            <a:r>
              <a:t>CEO delegating to Backend Dev, Security Engineer, QA...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We run businesses.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0972800" cy="73152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5F5F5"/>
                </a:solidFill>
                <a:latin typeface="Arial"/>
              </a:defRPr>
            </a:pPr>
            <a:r>
              <a:t>Proto is not SaaS. We operate autonomous companies.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347472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Build and operate software products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200400"/>
            <a:ext cx="347472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AGENCIES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749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Marketing, dev, design services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200400"/>
            <a:ext cx="347472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749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Media, publishing, courses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347472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E-COMMERCE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Product sourcing and sales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480560"/>
            <a:ext cx="347472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FREELANCE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Professional services at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480560"/>
            <a:ext cx="347472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PHYSICAL +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AI hires humans when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Everyone builds silos.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44444"/>
                </a:solidFill>
                <a:latin typeface="Consolas"/>
              </a:defRPr>
            </a:pPr>
            <a:r>
              <a:t>CURRENT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  <a:latin typeface="Arial"/>
              </a:defRPr>
            </a:pPr>
            <a:r>
              <a:t>40% of enterprise apps have agents — all domain silos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Consolas"/>
              </a:defRPr>
            </a:pPr>
            <a:r>
              <a:t>Cursor,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Consolas"/>
              </a:defRPr>
            </a:pPr>
            <a:r>
              <a:t>only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Consolas"/>
              </a:defRPr>
            </a:pPr>
            <a:r>
              <a:t>Apollo, Clay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Consolas"/>
              </a:defRPr>
            </a:pPr>
            <a:r>
              <a:t>only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Consolas"/>
              </a:defRPr>
            </a:pPr>
            <a:r>
              <a:t>Harvey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Consolas"/>
              </a:defRPr>
            </a:pPr>
            <a:r>
              <a:t>only legal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5F5"/>
                </a:solidFill>
                <a:latin typeface="Consolas"/>
              </a:defRPr>
            </a:pPr>
            <a:r>
              <a:t>Torq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Consolas"/>
              </a:defRPr>
            </a:pPr>
            <a:r>
              <a:t>only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9EFF"/>
                </a:solidFill>
                <a:latin typeface="Consolas"/>
              </a:defRPr>
            </a:pPr>
            <a:r>
              <a:t>WHAT'S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Arial"/>
              </a:defRPr>
            </a:pPr>
            <a:r>
              <a:t>Cross-domain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Arial"/>
              </a:defRPr>
            </a:pPr>
            <a:r>
              <a:t>They don't talk to each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Arial"/>
              </a:defRPr>
            </a:pPr>
            <a:r>
              <a:t>Self-improvement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Arial"/>
              </a:defRPr>
            </a:pPr>
            <a:r>
              <a:t>Each task makes Proto better at ALL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Arial"/>
              </a:defRPr>
            </a:pPr>
            <a:r>
              <a:t>Full autonomy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44444"/>
                </a:solidFill>
                <a:latin typeface="Arial"/>
              </a:defRPr>
            </a:pPr>
            <a:r>
              <a:t>Run businesses, not just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TEAM +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Why now. Why 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530352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SOLO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  <a:latin typeface="Arial"/>
              </a:defRPr>
            </a:pPr>
            <a:r>
              <a:t>Built entire stack: backend, frontend, agent orchestration, cross-platform infrastructure. All 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286000"/>
            <a:ext cx="530352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9EFF"/>
                </a:solidFill>
                <a:latin typeface="Consolas"/>
              </a:defRPr>
            </a:pPr>
            <a:r>
              <a:t>FIRST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26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  <a:latin typeface="Arial"/>
              </a:defRPr>
            </a:pPr>
            <a:r>
              <a:t>Started with end goal (autonomous companies), broke it down, built each piece systematically.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5F5"/>
                </a:solidFill>
                <a:latin typeface="Arial"/>
              </a:defRPr>
            </a:pPr>
            <a:r>
              <a:t>The window: Models work. Computer use works. Massive resources flowing in. Gap in the market.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888888"/>
                </a:solidFill>
                <a:latin typeface="Arial"/>
              </a:defRPr>
            </a:pPr>
            <a:r>
              <a:t>First system with real self-improvement compounds. That's the moat.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9EFF"/>
                </a:solidFill>
                <a:latin typeface="Consolas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F5F5"/>
                </a:solidFill>
                <a:latin typeface="Arial"/>
              </a:defRPr>
            </a:pPr>
            <a:r>
              <a:t>Investment terms.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530352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  <a:latin typeface="Consolas"/>
              </a:defRPr>
            </a:pPr>
            <a:r>
              <a:t>RAISING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Consolas"/>
              </a:defRPr>
            </a:pPr>
            <a:r>
              <a:t>$500K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Close A → $1.5M Close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286000"/>
            <a:ext cx="530352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  <a:latin typeface="Consolas"/>
              </a:defRPr>
            </a:pPr>
            <a:r>
              <a:t>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Consolas"/>
              </a:defRPr>
            </a:pPr>
            <a:r>
              <a:t>$5M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Post-Money SAFE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30352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  <a:latin typeface="Consolas"/>
              </a:defRPr>
            </a:pPr>
            <a:r>
              <a:t>USE OF FUNDS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5F5"/>
                </a:solidFill>
                <a:latin typeface="Consolas"/>
              </a:defRPr>
            </a:pPr>
            <a:r>
              <a:t>12mo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Founder + 2 Engineers + Compute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931920"/>
            <a:ext cx="5303520" cy="1463040"/>
          </a:xfrm>
          <a:prstGeom prst="rect">
            <a:avLst/>
          </a:prstGeom>
          <a:solidFill>
            <a:srgbClr val="161616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44444"/>
                </a:solidFill>
                <a:latin typeface="Consolas"/>
              </a:defRPr>
            </a:pPr>
            <a:r>
              <a:t>MILESTONES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48055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F5F5"/>
                </a:solidFill>
                <a:latin typeface="Consolas"/>
              </a:defRPr>
            </a:pPr>
            <a:r>
              <a:t>Self-improve → Mastery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88888"/>
                </a:solidFill>
                <a:latin typeface="Arial"/>
              </a:defRPr>
            </a:pPr>
            <a:r>
              <a:t>Domain mastery, then autonomous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5F5F5"/>
                </a:solidFill>
                <a:latin typeface="Arial"/>
              </a:defRPr>
            </a:pPr>
            <a:r>
              <a:t>Looking for investors who see the opportunity in autonomous companies.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9EFF"/>
                </a:solidFill>
                <a:latin typeface="Consolas"/>
              </a:defRPr>
            </a:pPr>
            <a: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  <a:latin typeface="Consolas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Consolas"/>
              </a:defRPr>
            </a:pPr>
            <a:r>
              <a:t>nir@proto.ai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Consolas"/>
              </a:defRPr>
            </a:pPr>
            <a:r>
              <a:t>PROTO / THE AUTONOMOUS COMPANY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